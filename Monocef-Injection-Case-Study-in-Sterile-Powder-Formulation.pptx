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5.png"/><Relationship Id="rId8" Type="http://schemas.openxmlformats.org/officeDocument/2006/relationships/image" Target="../media/image-8-6.sv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istopharma.co.in/product/monocef-2g/" TargetMode="External"/><Relationship Id="rId6" Type="http://schemas.openxmlformats.org/officeDocument/2006/relationships/hyperlink" Target="https://www.nafdac.gov.ng/wp-content/uploads/Files/SMPC/November_2022_Revised/PHILOCEF-INJECTION.pdf" TargetMode="External"/><Relationship Id="rId9" Type="http://schemas.openxmlformats.org/officeDocument/2006/relationships/hyperlink" Target="https://preview-www.nature.com/articles/s41598-023-48410-z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4" Type="http://schemas.openxmlformats.org/officeDocument/2006/relationships/image" Target="../media/image-9-1.png"/><Relationship Id="rId5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57415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Monocef Injection: Case Study in Sterile Powder Formulation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31157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2 — Drug Formulation Case Study | Active Ingredient: Ceftriaxone Sodium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95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Monocef Is a Ceftriaxone Powder for Injection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486867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Overview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1850082"/>
            <a:ext cx="5177582" cy="2069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Brand and strength: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Monocef 2g is supplied as a vial containing ceftriaxone sodium equivalent to ceftriaxone 2g, classified under Anti-Bacterial Parenteral therapy.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Dosage form: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Sterile powder for solution for injection or infusion, reconstituted immediately before administration.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Why a dry vial?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powder format avoids storing a ready-to-inject aqueous solution, significantly reducing risks associated with long-term water exposure, microbial growth, and chemical degradation.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474988" y="4079156"/>
            <a:ext cx="1618506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60043" y="4121646"/>
            <a:ext cx="190559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PRESCRIPTION INJECTABLE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164336" y="4079156"/>
            <a:ext cx="85829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49391" y="4121646"/>
            <a:ext cx="11453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PARENTERAL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812"/>
            <a:ext cx="8151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Formulation Must Deliver Four Critical Performance Attributes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96119" y="1478533"/>
            <a:ext cx="4015606" cy="1461418"/>
          </a:xfrm>
          <a:prstGeom prst="roundRect">
            <a:avLst>
              <a:gd name="adj" fmla="val 375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1552" y="1613967"/>
            <a:ext cx="392013" cy="392013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9378" y="1721718"/>
            <a:ext cx="176361" cy="1763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552" y="2126456"/>
            <a:ext cx="37447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Sterility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1552" y="2402830"/>
            <a:ext cx="374473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Parenteral route demands zero microbial contamination and rigorous endotoxin control throughout manufacture and storage.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32201" y="1478533"/>
            <a:ext cx="4015680" cy="1461418"/>
          </a:xfrm>
          <a:prstGeom prst="roundRect">
            <a:avLst>
              <a:gd name="adj" fmla="val 375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67635" y="1613967"/>
            <a:ext cx="392013" cy="392013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5461" y="1721718"/>
            <a:ext cx="176361" cy="1763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67635" y="2126456"/>
            <a:ext cx="37448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767635" y="2402830"/>
            <a:ext cx="374481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vial must deliver the full labeled ceftriaxone activity upon reconstitution — no degradation or sub-potent release.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96119" y="3060427"/>
            <a:ext cx="4015606" cy="1662261"/>
          </a:xfrm>
          <a:prstGeom prst="roundRect">
            <a:avLst>
              <a:gd name="adj" fmla="val 330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1552" y="3195861"/>
            <a:ext cx="392013" cy="392013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378" y="3303612"/>
            <a:ext cx="176361" cy="1763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1552" y="3708350"/>
            <a:ext cx="374473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Reconstitution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1552" y="3984724"/>
            <a:ext cx="3744739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Powder must dissolve into a clear, usable solution with controlled pH and acceptable color within a clinically acceptable timeframe.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32201" y="3060427"/>
            <a:ext cx="4015680" cy="1662261"/>
          </a:xfrm>
          <a:prstGeom prst="roundRect">
            <a:avLst>
              <a:gd name="adj" fmla="val 330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67635" y="3195861"/>
            <a:ext cx="392013" cy="392013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5461" y="3303612"/>
            <a:ext cx="176361" cy="1763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67635" y="3708350"/>
            <a:ext cx="374481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Patient Safety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767635" y="3984724"/>
            <a:ext cx="374481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Packaging must limit particulate matter, prevent container–closure interaction, and minimize risk of dosing errors at the bedside.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Composition: Ceftriaxone Sodium in a Protective Dry-Vial System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20221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 Pharmaceutical Ingredient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354089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Ceftriaxone sodium, equivalent to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2g ceftriaxone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vial in the Monocef 2g presentation.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48029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Ionic Sodium Contribution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63217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gram of ceftriaxone activity contributes approximately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82–83 mg (3.6 mmol) of sodium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clinically relevant for patients on sodium-restricted regimens. A 2g dose delivers roughly 164–166 mg sodium total.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496119" y="2851621"/>
            <a:ext cx="3986733" cy="369838"/>
          </a:xfrm>
          <a:prstGeom prst="roundRect">
            <a:avLst>
              <a:gd name="adj" fmla="val 8301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93" y="2910185"/>
            <a:ext cx="91306" cy="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3574" y="2903711"/>
            <a:ext cx="3676204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public Monocef product listing identifies ceftriaxone sodium but does not publish a complete added-excipient formula. Do not assume buffers or stabilizers are present without consulting the approved batch record or current package insert.</a:t>
            </a:r>
            <a:endParaRPr lang="en-US" sz="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594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Representative Manufacturing Flow for Sterile Powder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046931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174439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Stoppering &amp; Sealing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8907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Aseptic Filling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174439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 Sterilization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174439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Moisture Preparation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174439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Qualification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143375"/>
            <a:ext cx="81517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representative flow reflects good aseptic manufacturing practice for ceftriaxone sodium powder-for-injection. Each stage is a critical control point — failure at any step compromises sterility, potency, or patient safety. The actual Aristo Pharma process is governed by their validated batch records and regulatory dossier.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312"/>
            <a:ext cx="8151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Reconstitution and Administration Are Part of the Product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664866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Intramuscular Route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20267"/>
            <a:ext cx="3905696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IM use, referenced product information specifies dissolving 1g ceftriaxone in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3.5 mL of 1% Lidocaine Injection BP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administered by deep intramuscular injection. Follow the exact Monocef package insert instructions for the 2g marketed strength.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3264917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Handling Requirements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620319"/>
            <a:ext cx="390569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prescription injectable. Use only approved diluents and routes. Reconstitution and administration must be performed by trained healthcare personnel only.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46947" y="1681981"/>
            <a:ext cx="3905696" cy="1424136"/>
          </a:xfrm>
          <a:prstGeom prst="roundRect">
            <a:avLst>
              <a:gd name="adj" fmla="val 4116"/>
            </a:avLst>
          </a:prstGeom>
          <a:solidFill>
            <a:srgbClr val="FFB3B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6474" y="1889224"/>
            <a:ext cx="174427" cy="1395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00427" y="1840409"/>
            <a:ext cx="3312691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use calcium-containing diluents — such as Ringer's solution or Hartmann's solution — to reconstitute ceftriaxone vials or to further dilute a reconstituted vial for IV administration. A precipitate can form, posing a serious patient safety risk.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46947" y="3260601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Approved Diluents for IV Use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46947" y="3616003"/>
            <a:ext cx="3905696" cy="1030039"/>
          </a:xfrm>
          <a:prstGeom prst="rect">
            <a:avLst/>
          </a:prstGeom>
          <a:noFill/>
          <a:ln/>
        </p:spPr>
        <p:txBody>
          <a:bodyPr wrap="square" lIns="0" tIns="55821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0.9% Sodium Chloride (normal saline)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5% Dextrose in Water (D5W)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Sterile Water for Injection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Avoid: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Ringer's, Hartmann's, or any calcium-containing fluid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Stability Depends on Moisture, Temperature, and Container Closure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14066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Moisture — The Critical Variable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292548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Published research confirms ceftriaxone degrades when water content rises above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2.4% w/w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Humidity control during manufacture and a tight, validated seal are central to shelf-life protection. Even minor moisture ingress can trigger hydrolysis and potency loss.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59586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Control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74773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Hydrate distribution and stability differ between products and manufacturers. Controlled, cool storage conditions are especially important for generic powder preparations to maintain efficacy and stability throughout the declared shelf life.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96119" y="2962498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Packaging Integrity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96119" y="3114377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validated vial–stopper system with strong moisture barrier properties and compatibility data is non-negotiable. Container-closure integrity testing is part of the stability program.</a:t>
            </a:r>
            <a:endParaRPr lang="en-US" sz="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641"/>
            <a:ext cx="815176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Quality-Control Checklist: Release Only When the Vial Is Fit for Use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41016"/>
            <a:ext cx="4025429" cy="12079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9127" y="1420192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9989" y="1815033"/>
            <a:ext cx="375768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Identity and Assay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29989" y="2062386"/>
            <a:ext cx="37576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ceftriaxone identity by appropriate analytical method and verify labeled strength is met within specification.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453" y="1341016"/>
            <a:ext cx="4025429" cy="12079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45461" y="1420192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756324" y="1815033"/>
            <a:ext cx="375768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Physical Quality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756324" y="2062386"/>
            <a:ext cx="37576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powder appearance, reconstitution time, solution clarity and color, visible and subvisible particulates, and fill weight uniformity.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649885"/>
            <a:ext cx="4025429" cy="13843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19127" y="2729061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29989" y="3123902"/>
            <a:ext cx="375768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Microbiological Quality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29989" y="3371255"/>
            <a:ext cx="37576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sterility and bacterial endotoxin limits; maintain validated aseptic controls and environmental monitoring programs.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2453" y="2649885"/>
            <a:ext cx="4025429" cy="13843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45461" y="2729061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756324" y="3123902"/>
            <a:ext cx="375768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Stability Program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756324" y="3371255"/>
            <a:ext cx="375768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potency, moisture content, degradation products, closure integrity, and reconstituted-solution usability throughout the approved shelf life.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96119" y="4147691"/>
            <a:ext cx="8151763" cy="604093"/>
          </a:xfrm>
          <a:prstGeom prst="roundRect">
            <a:avLst>
              <a:gd name="adj" fmla="val 8316"/>
            </a:avLst>
          </a:prstGeom>
          <a:solidFill>
            <a:srgbClr val="E1E1E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702" y="4292798"/>
            <a:ext cx="149498" cy="11958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4783" y="4278437"/>
            <a:ext cx="764351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Monocef's dry-vial design succeeds only when formulation science, aseptic processing, validated packaging, and precise clinical reconstitution instructions function as one integrated system.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396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591419"/>
            <a:ext cx="2618184" cy="26870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5977" y="1610469"/>
            <a:ext cx="241927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Aristo Pharma — Monocef 2g Product Page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75977" y="2138437"/>
            <a:ext cx="241927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Monocef – 2g | Aristo Pharma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Official product listing: composition, strength, pack size, and therapy classification for Monocef 2g vial.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3383" y="1591419"/>
            <a:ext cx="2618184" cy="26870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2292" y="1610469"/>
            <a:ext cx="241927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NAFDAC — Philocef Injection Summary of Product Characteristics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52292" y="2359893"/>
            <a:ext cx="2419276" cy="1672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White to pale yellow crystalline powder — NAFDAC SMPC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SmPC providing reconstitution instructions, sodium content data, diluent contraindications (calcium-containing solutions), and physicochemical description.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9697" y="1591419"/>
            <a:ext cx="2618184" cy="26870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8606" y="1610469"/>
            <a:ext cx="241927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Scientific Reports — Storage Stability of Ceftriaxone Sodium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28606" y="2359893"/>
            <a:ext cx="2419276" cy="1899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on storage stability differences between ceftriaxone sodium products | Scientific Reports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Peer-reviewed research documenting the 2.4% w/w water-content threshold for ceftriaxone degradation and the impact of sealing and cool storage on generic powder preparations.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2026-08-15T09:22:55Z</dcterms:created>
  <dcterms:modified xsi:type="dcterms:W3CDTF">2026-08-15T09:22:55Z</dcterms:modified>
</cp:coreProperties>
</file>